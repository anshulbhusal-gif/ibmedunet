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4" r:id="rId8"/>
    <p:sldId id="262" r:id="rId9"/>
    <p:sldId id="263" r:id="rId10"/>
    <p:sldId id="272" r:id="rId11"/>
    <p:sldId id="275" r:id="rId12"/>
    <p:sldId id="274" r:id="rId13"/>
    <p:sldId id="273" r:id="rId14"/>
    <p:sldId id="265" r:id="rId15"/>
    <p:sldId id="266" r:id="rId16"/>
    <p:sldId id="267" r:id="rId17"/>
    <p:sldId id="268" r:id="rId18"/>
    <p:sldId id="278" r:id="rId19"/>
    <p:sldId id="269" r:id="rId20"/>
    <p:sldId id="276" r:id="rId21"/>
    <p:sldId id="277" r:id="rId22"/>
    <p:sldId id="270" r:id="rId23"/>
    <p:sldId id="271"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8FA645-6FCE-40B8-9D2E-3D3C03BF3467}" v="30" dt="2026-07-12T07:52:02.719"/>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14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3986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anshulbhusal@gmail.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hyperlink" Target="mailto:202501040341@mitaoe.ac.i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anshulbhusal-gif/IBMEdunet"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176351327"/>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Anshul Pravin Bhusal </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AICTE/IBM SKILLBUILD: </a:t>
                      </a:r>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hlinkClick r:id="rId3"/>
                        </a:rPr>
                        <a:t>anshulbhusal@gmail.com</a:t>
                      </a: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EDUNET: </a:t>
                      </a:r>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hlinkClick r:id="rId4"/>
                        </a:rPr>
                        <a:t>202501040341@mitaoe.ac.in</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+91 9175884651</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 </a:t>
            </a:r>
            <a:r>
              <a:rPr lang="en-IN" sz="2400" b="1" dirty="0"/>
              <a:t>Entrepreneurship &amp; Business Development</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 </a:t>
            </a:r>
            <a:r>
              <a:rPr lang="en-IN" sz="2400" b="1" dirty="0"/>
              <a:t>Startup Blueprint Generator AI</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684E6B65-CA32-B299-EB3C-78F04BD37863}"/>
              </a:ext>
            </a:extLst>
          </p:cNvPr>
          <p:cNvPicPr>
            <a:picLocks noChangeAspect="1"/>
          </p:cNvPicPr>
          <p:nvPr/>
        </p:nvPicPr>
        <p:blipFill>
          <a:blip r:embed="rId5"/>
          <a:stretch>
            <a:fillRect/>
          </a:stretch>
        </p:blipFill>
        <p:spPr>
          <a:xfrm>
            <a:off x="3945608" y="3683877"/>
            <a:ext cx="1122151" cy="10748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0475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Problem Statement : Startup Blueprint Generator Agent</a:t>
            </a: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 Challenge</a:t>
            </a: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Aspiring entrepreneurs often struggle with </a:t>
            </a:r>
            <a:r>
              <a:rPr lang="en-US" sz="1400" b="1" i="0" u="none" strike="noStrike" cap="none">
                <a:solidFill>
                  <a:srgbClr val="000000"/>
                </a:solidFill>
                <a:latin typeface="Arial"/>
                <a:ea typeface="Arial"/>
                <a:cs typeface="Arial"/>
                <a:sym typeface="Arial"/>
              </a:rPr>
              <a:t>structuring raw ideas into actionable business plans, identifying funding options, and navigating legal requirements</a:t>
            </a:r>
            <a:r>
              <a:rPr lang="en-US" sz="1400" b="0" i="0" u="none" strike="noStrike" cap="none">
                <a:solidFill>
                  <a:srgbClr val="000000"/>
                </a:solidFill>
                <a:latin typeface="Arial"/>
                <a:ea typeface="Arial"/>
                <a:cs typeface="Arial"/>
                <a:sym typeface="Arial"/>
              </a:rPr>
              <a:t>. Information on market research, government schemes, and legal processes is scattered across unreliable, disconnected sources. Without </a:t>
            </a:r>
            <a:r>
              <a:rPr lang="en-US" sz="1400" b="1" i="0" u="none" strike="noStrike" cap="none">
                <a:solidFill>
                  <a:srgbClr val="000000"/>
                </a:solidFill>
                <a:latin typeface="Arial"/>
                <a:ea typeface="Arial"/>
                <a:cs typeface="Arial"/>
                <a:sym typeface="Arial"/>
              </a:rPr>
              <a:t>personalized, structured guidance</a:t>
            </a:r>
            <a:r>
              <a:rPr lang="en-US" sz="1400" b="0" i="0" u="none" strike="noStrike" cap="none">
                <a:solidFill>
                  <a:srgbClr val="000000"/>
                </a:solidFill>
                <a:latin typeface="Arial"/>
                <a:ea typeface="Arial"/>
                <a:cs typeface="Arial"/>
                <a:sym typeface="Arial"/>
              </a:rPr>
              <a:t>, many founders face delays and confusion turning an idea into a launch-ready business.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The Objective</a:t>
            </a:r>
            <a:r>
              <a:rPr lang="en-US" sz="1400" b="0" i="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Build an </a:t>
            </a:r>
            <a:r>
              <a:rPr lang="en-US" sz="1400" b="1" i="0" u="none" strike="noStrike" cap="none">
                <a:solidFill>
                  <a:srgbClr val="000000"/>
                </a:solidFill>
                <a:latin typeface="Arial"/>
                <a:ea typeface="Arial"/>
                <a:cs typeface="Arial"/>
                <a:sym typeface="Arial"/>
              </a:rPr>
              <a:t>AI-powered Startup Blueprint Generator Agent</a:t>
            </a:r>
            <a:r>
              <a:rPr lang="en-US" sz="1400" b="0" i="0" u="none" strike="noStrike" cap="none">
                <a:solidFill>
                  <a:srgbClr val="000000"/>
                </a:solidFill>
                <a:latin typeface="Arial"/>
                <a:ea typeface="Arial"/>
                <a:cs typeface="Arial"/>
                <a:sym typeface="Arial"/>
              </a:rPr>
              <a:t> that delivers </a:t>
            </a:r>
            <a:r>
              <a:rPr lang="en-US" sz="1400" b="1" i="0" u="none" strike="noStrike" cap="none">
                <a:solidFill>
                  <a:srgbClr val="000000"/>
                </a:solidFill>
                <a:latin typeface="Arial"/>
                <a:ea typeface="Arial"/>
                <a:cs typeface="Arial"/>
                <a:sym typeface="Arial"/>
              </a:rPr>
              <a:t>complete, actionable business blueprints</a:t>
            </a:r>
            <a:r>
              <a:rPr lang="en-US" sz="1400" b="0" i="0" u="none" strike="noStrike" cap="none">
                <a:solidFill>
                  <a:srgbClr val="000000"/>
                </a:solidFill>
                <a:latin typeface="Arial"/>
                <a:ea typeface="Arial"/>
                <a:cs typeface="Arial"/>
                <a:sym typeface="Arial"/>
              </a:rPr>
              <a:t> for aspiring entrepreneurs. The solution should: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Business Model Canvas Generation</a:t>
            </a:r>
            <a:r>
              <a:rPr lang="en-US" sz="1400" b="0" i="0" u="none" strike="noStrike" cap="none">
                <a:solidFill>
                  <a:srgbClr val="000000"/>
                </a:solidFill>
                <a:latin typeface="Arial"/>
                <a:ea typeface="Arial"/>
                <a:cs typeface="Arial"/>
                <a:sym typeface="Arial"/>
              </a:rPr>
              <a:t> – Automatically build all 9 BMC blocks tailored to the user’s specific idea.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Startup Data RAG Retrieval</a:t>
            </a:r>
            <a:r>
              <a:rPr lang="en-US" sz="1400" b="0" i="0" u="none" strike="noStrike" cap="none">
                <a:solidFill>
                  <a:srgbClr val="000000"/>
                </a:solidFill>
                <a:latin typeface="Arial"/>
                <a:ea typeface="Arial"/>
                <a:cs typeface="Arial"/>
                <a:sym typeface="Arial"/>
              </a:rPr>
              <a:t> – Fetch and summarize funding options, government schemes, and legal requirements from trusted sources.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Budget &amp; Revenue Planning</a:t>
            </a:r>
            <a:r>
              <a:rPr lang="en-US" sz="1400" b="0" i="0" u="none" strike="noStrike" cap="none">
                <a:solidFill>
                  <a:srgbClr val="000000"/>
                </a:solidFill>
                <a:latin typeface="Arial"/>
                <a:ea typeface="Arial"/>
                <a:cs typeface="Arial"/>
                <a:sym typeface="Arial"/>
              </a:rPr>
              <a:t> – Estimate startup budgets and recommend suitable revenue models.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Go-to-Market Strategy</a:t>
            </a:r>
            <a:r>
              <a:rPr lang="en-US" sz="1400" b="0" i="0" u="none" strike="noStrike" cap="none">
                <a:solidFill>
                  <a:srgbClr val="000000"/>
                </a:solidFill>
                <a:latin typeface="Arial"/>
                <a:ea typeface="Arial"/>
                <a:cs typeface="Arial"/>
                <a:sym typeface="Arial"/>
              </a:rPr>
              <a:t> – Generate a structured GTM plan covering positioning, channels, and launch phases.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Knowledge Domains Covered</a:t>
            </a:r>
            <a:r>
              <a:rPr lang="en-US" sz="1400" b="0" i="0" u="none" strike="noStrike" cap="none">
                <a:solidFill>
                  <a:srgbClr val="000000"/>
                </a:solidFill>
                <a:latin typeface="Arial"/>
                <a:ea typeface="Arial"/>
                <a:cs typeface="Arial"/>
                <a:sym typeface="Arial"/>
              </a:rPr>
              <a:t> –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Government Schemes</a:t>
            </a:r>
            <a:r>
              <a:rPr lang="en-US" sz="1400" b="0" i="0" u="none" strike="noStrike" cap="none">
                <a:solidFill>
                  <a:srgbClr val="000000"/>
                </a:solidFill>
                <a:latin typeface="Arial"/>
                <a:ea typeface="Arial"/>
                <a:cs typeface="Arial"/>
                <a:sym typeface="Arial"/>
              </a:rPr>
              <a:t> (Startup India, MSME, state-level schemes)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Funding &amp; Investors</a:t>
            </a:r>
            <a:r>
              <a:rPr lang="en-US" sz="1400" b="0" i="0" u="none" strike="noStrike" cap="none">
                <a:solidFill>
                  <a:srgbClr val="000000"/>
                </a:solidFill>
                <a:latin typeface="Arial"/>
                <a:ea typeface="Arial"/>
                <a:cs typeface="Arial"/>
                <a:sym typeface="Arial"/>
              </a:rPr>
              <a:t> (angel networks, VCs, incubators)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Legal &amp; Compliance</a:t>
            </a:r>
            <a:r>
              <a:rPr lang="en-US" sz="1400" b="0" i="0" u="none" strike="noStrike" cap="none">
                <a:solidFill>
                  <a:srgbClr val="000000"/>
                </a:solidFill>
                <a:latin typeface="Arial"/>
                <a:ea typeface="Arial"/>
                <a:cs typeface="Arial"/>
                <a:sym typeface="Arial"/>
              </a:rPr>
              <a:t> (registration, GST, IP, contracts)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Business Frameworks</a:t>
            </a:r>
            <a:r>
              <a:rPr lang="en-US" sz="1400" b="0" i="0" u="none" strike="noStrike" cap="none">
                <a:solidFill>
                  <a:srgbClr val="000000"/>
                </a:solidFill>
                <a:latin typeface="Arial"/>
                <a:ea typeface="Arial"/>
                <a:cs typeface="Arial"/>
                <a:sym typeface="Arial"/>
              </a:rPr>
              <a:t> (BMC, revenue models, GTM templates) </a:t>
            </a:r>
            <a:endParaRPr/>
          </a:p>
          <a:p>
            <a:pPr marL="285750" marR="0" lvl="0" indent="-285750" algn="l" rtl="0">
              <a:lnSpc>
                <a:spcPct val="100000"/>
              </a:lnSpc>
              <a:spcBef>
                <a:spcPts val="0"/>
              </a:spcBef>
              <a:spcAft>
                <a:spcPts val="0"/>
              </a:spcAft>
              <a:buClr>
                <a:srgbClr val="000000"/>
              </a:buClr>
              <a:buSzPts val="1400"/>
              <a:buFont typeface="Arial"/>
              <a:buChar char="•"/>
            </a:pPr>
            <a:r>
              <a:rPr lang="en-US" sz="1400" b="1" i="0" u="none" strike="noStrike" cap="none">
                <a:solidFill>
                  <a:srgbClr val="000000"/>
                </a:solidFill>
                <a:latin typeface="Arial"/>
                <a:ea typeface="Arial"/>
                <a:cs typeface="Arial"/>
                <a:sym typeface="Arial"/>
              </a:rPr>
              <a:t>Investor Connections</a:t>
            </a:r>
            <a:r>
              <a:rPr lang="en-US" sz="1400" b="0" i="0" u="none" strike="noStrike" cap="none">
                <a:solidFill>
                  <a:srgbClr val="000000"/>
                </a:solidFill>
                <a:latin typeface="Arial"/>
                <a:ea typeface="Arial"/>
                <a:cs typeface="Arial"/>
                <a:sym typeface="Arial"/>
              </a:rPr>
              <a:t> – Suggest relevant investor types and funding stage guidance based on the idea.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Proposed Solution: AI-Powered Startup Blueprint Generator Agent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proposed solution is a </a:t>
            </a:r>
            <a:r>
              <a:rPr lang="en-US" sz="1400" b="1" i="0" u="none" strike="noStrike" cap="none">
                <a:solidFill>
                  <a:srgbClr val="000000"/>
                </a:solidFill>
                <a:latin typeface="Arial"/>
                <a:ea typeface="Arial"/>
                <a:cs typeface="Arial"/>
                <a:sym typeface="Arial"/>
              </a:rPr>
              <a:t>RAG-powered Startup Blueprint Generator Agent</a:t>
            </a:r>
            <a:r>
              <a:rPr lang="en-US" sz="1400" b="0" i="0" u="none" strike="noStrike" cap="none">
                <a:solidFill>
                  <a:srgbClr val="000000"/>
                </a:solidFill>
                <a:latin typeface="Arial"/>
                <a:ea typeface="Arial"/>
                <a:cs typeface="Arial"/>
                <a:sym typeface="Arial"/>
              </a:rPr>
              <a:t> built using </a:t>
            </a:r>
            <a:r>
              <a:rPr lang="en-US" sz="1400" b="1" i="0" u="none" strike="noStrike" cap="none">
                <a:solidFill>
                  <a:srgbClr val="000000"/>
                </a:solidFill>
                <a:latin typeface="Arial"/>
                <a:ea typeface="Arial"/>
                <a:cs typeface="Arial"/>
                <a:sym typeface="Arial"/>
              </a:rPr>
              <a:t>IBM watsonx Orchestrate, IBM Granite, and Retrieval-Augmented Generation</a:t>
            </a:r>
            <a:r>
              <a:rPr lang="en-US" sz="1400" b="0" i="0" u="none" strike="noStrike" cap="none">
                <a:solidFill>
                  <a:srgbClr val="000000"/>
                </a:solidFill>
                <a:latin typeface="Arial"/>
                <a:ea typeface="Arial"/>
                <a:cs typeface="Arial"/>
                <a:sym typeface="Arial"/>
              </a:rPr>
              <a:t> to transform a founder’s raw startup idea into a complete, structured business blueprint. The system addresses challenges in business planning, funding discovery, and legal navigation through an intelligent, knowledge-grounded architecture.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At its core, the solution uses a </a:t>
            </a:r>
            <a:r>
              <a:rPr lang="en-US" sz="1400" b="1" i="0" u="none" strike="noStrike" cap="none">
                <a:solidFill>
                  <a:srgbClr val="000000"/>
                </a:solidFill>
                <a:latin typeface="Arial"/>
                <a:ea typeface="Arial"/>
                <a:cs typeface="Arial"/>
                <a:sym typeface="Arial"/>
              </a:rPr>
              <a:t>Retrieval-Augmented Generation (RAG)</a:t>
            </a:r>
            <a:r>
              <a:rPr lang="en-US" sz="1400" b="0" i="0" u="none" strike="noStrike" cap="none">
                <a:solidFill>
                  <a:srgbClr val="000000"/>
                </a:solidFill>
                <a:latin typeface="Arial"/>
                <a:ea typeface="Arial"/>
                <a:cs typeface="Arial"/>
                <a:sym typeface="Arial"/>
              </a:rPr>
              <a:t> pipeline to fetch accurate startup information from a curated knowledge base covering government schemes, funding directories, legal checklists, and business frameworks. This data is retrieved and grounded using Granite models to generate blueprint sections that are structured and non-fabricated.</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system is built around a single orchestrated agent with the following capabilities:</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Business Model Canvas Generation</a:t>
            </a:r>
            <a:r>
              <a:rPr lang="en-US" sz="1400" b="0" i="0" u="none" strike="noStrike" cap="none">
                <a:solidFill>
                  <a:srgbClr val="000000"/>
                </a:solidFill>
                <a:latin typeface="Arial"/>
                <a:ea typeface="Arial"/>
                <a:cs typeface="Arial"/>
                <a:sym typeface="Arial"/>
              </a:rPr>
              <a:t> builds all 9 BMC blocks tailored to the specific startup idea. </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Funding &amp; Government Scheme Matching</a:t>
            </a:r>
            <a:r>
              <a:rPr lang="en-US" sz="1400" b="0" i="0" u="none" strike="noStrike" cap="none">
                <a:solidFill>
                  <a:srgbClr val="000000"/>
                </a:solidFill>
                <a:latin typeface="Arial"/>
                <a:ea typeface="Arial"/>
                <a:cs typeface="Arial"/>
                <a:sym typeface="Arial"/>
              </a:rPr>
              <a:t> retrieves relevant schemes, incubators, and investor types based on the idea’s sector and stage. </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Legal &amp; Compliance Guidance</a:t>
            </a:r>
            <a:r>
              <a:rPr lang="en-US" sz="1400" b="0" i="0" u="none" strike="noStrike" cap="none">
                <a:solidFill>
                  <a:srgbClr val="000000"/>
                </a:solidFill>
                <a:latin typeface="Arial"/>
                <a:ea typeface="Arial"/>
                <a:cs typeface="Arial"/>
                <a:sym typeface="Arial"/>
              </a:rPr>
              <a:t> recommends a registration type and outlines key compliance steps (GST, DPIIT recognition, IP). </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Go-to-Market Strategy Generation</a:t>
            </a:r>
            <a:r>
              <a:rPr lang="en-US" sz="1400" b="0" i="0" u="none" strike="noStrike" cap="none">
                <a:solidFill>
                  <a:srgbClr val="000000"/>
                </a:solidFill>
                <a:latin typeface="Arial"/>
                <a:ea typeface="Arial"/>
                <a:cs typeface="Arial"/>
                <a:sym typeface="Arial"/>
              </a:rPr>
              <a:t> produces a phased launch plan covering positioning, channels, and early traction metrics.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solution includes a </a:t>
            </a:r>
            <a:r>
              <a:rPr lang="en-US" sz="1400" b="1" i="0" u="none" strike="noStrike" cap="none">
                <a:solidFill>
                  <a:srgbClr val="000000"/>
                </a:solidFill>
                <a:latin typeface="Arial"/>
                <a:ea typeface="Arial"/>
                <a:cs typeface="Arial"/>
                <a:sym typeface="Arial"/>
              </a:rPr>
              <a:t>conversational chat interface</a:t>
            </a:r>
            <a:r>
              <a:rPr lang="en-US" sz="1400" b="0" i="0" u="none" strike="noStrike" cap="none">
                <a:solidFill>
                  <a:srgbClr val="000000"/>
                </a:solidFill>
                <a:latin typeface="Arial"/>
                <a:ea typeface="Arial"/>
                <a:cs typeface="Arial"/>
                <a:sym typeface="Arial"/>
              </a:rPr>
              <a:t> (built on watsonx Orchestrate) that lets users describe their idea in plain language and receive a structured blueprint instantly.</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watsonx Orchestrate is used to configure the agent’s behavior, knowledge, and guardrails, while IBM Granite powers reasoning, retrieval-grounded generation, and structured output formatting.</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Overall, this solution delivers an </a:t>
            </a:r>
            <a:r>
              <a:rPr lang="en-US" sz="1400" b="1" i="0" u="none" strike="noStrike" cap="none">
                <a:solidFill>
                  <a:srgbClr val="000000"/>
                </a:solidFill>
                <a:latin typeface="Arial"/>
                <a:ea typeface="Arial"/>
                <a:cs typeface="Arial"/>
                <a:sym typeface="Arial"/>
              </a:rPr>
              <a:t>end-to-end AI startup advisor</a:t>
            </a:r>
            <a:r>
              <a:rPr lang="en-US" sz="1400" b="0" i="0" u="none" strike="noStrike" cap="none">
                <a:solidFill>
                  <a:srgbClr val="000000"/>
                </a:solidFill>
                <a:latin typeface="Arial"/>
                <a:ea typeface="Arial"/>
                <a:cs typeface="Arial"/>
                <a:sym typeface="Arial"/>
              </a:rPr>
              <a:t> that eliminates ambiguity and accelerates the journey from idea to implementation.</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509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watsonx Orchestrate </a:t>
            </a:r>
            <a:r>
              <a:rPr lang="en-US" sz="1800" b="0" i="0" u="none" strike="noStrike" cap="none">
                <a:solidFill>
                  <a:srgbClr val="000000"/>
                </a:solidFill>
                <a:latin typeface="Arial"/>
                <a:ea typeface="Arial"/>
                <a:cs typeface="Arial"/>
                <a:sym typeface="Arial"/>
              </a:rPr>
              <a:t>-For building, configuring, and orchestrating the agent visually via Agent Builder</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Granite model </a:t>
            </a:r>
            <a:r>
              <a:rPr lang="en-US" sz="1800" b="0" i="0" u="none" strike="noStrike" cap="none">
                <a:solidFill>
                  <a:srgbClr val="000000"/>
                </a:solidFill>
                <a:latin typeface="Arial"/>
                <a:ea typeface="Arial"/>
                <a:cs typeface="Arial"/>
                <a:sym typeface="Arial"/>
              </a:rPr>
              <a:t>-  for eg – granite-3-8b-instruct – For natural language understanding, reasoning, and structured blueprint generation</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Cloud Lite </a:t>
            </a:r>
            <a:r>
              <a:rPr lang="en-US" sz="1800" b="0" i="0" u="none" strike="noStrike" cap="none">
                <a:solidFill>
                  <a:srgbClr val="000000"/>
                </a:solidFill>
                <a:latin typeface="Arial"/>
                <a:ea typeface="Arial"/>
                <a:cs typeface="Arial"/>
                <a:sym typeface="Arial"/>
              </a:rPr>
              <a:t>– It provides the infrastructure to build, deploy, and host the Startup Blueprint Generator Agent. IBM Cloud Lite enables a </a:t>
            </a:r>
            <a:r>
              <a:rPr lang="en-US" sz="1800" b="1" i="0" u="none" strike="noStrike" cap="none">
                <a:solidFill>
                  <a:srgbClr val="000000"/>
                </a:solidFill>
                <a:latin typeface="Arial"/>
                <a:ea typeface="Arial"/>
                <a:cs typeface="Arial"/>
                <a:sym typeface="Arial"/>
              </a:rPr>
              <a:t>reliable, scalable environment</a:t>
            </a:r>
            <a:r>
              <a:rPr lang="en-US" sz="1800" b="0" i="0" u="none" strike="noStrike" cap="none">
                <a:solidFill>
                  <a:srgbClr val="000000"/>
                </a:solidFill>
                <a:latin typeface="Arial"/>
                <a:ea typeface="Arial"/>
                <a:cs typeface="Arial"/>
                <a:sym typeface="Arial"/>
              </a:rPr>
              <a:t> for deploying the agent.</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RAG– </a:t>
            </a:r>
            <a:r>
              <a:rPr lang="en-US" sz="1800" b="0" i="0" u="none" strike="noStrike" cap="none">
                <a:solidFill>
                  <a:srgbClr val="000000"/>
                </a:solidFill>
                <a:latin typeface="Arial"/>
                <a:ea typeface="Arial"/>
                <a:cs typeface="Arial"/>
                <a:sym typeface="Arial"/>
              </a:rPr>
              <a:t>RAG to </a:t>
            </a:r>
            <a:r>
              <a:rPr lang="en-US" sz="1800" b="1" i="0" u="none" strike="noStrike" cap="none">
                <a:solidFill>
                  <a:srgbClr val="000000"/>
                </a:solidFill>
                <a:latin typeface="Arial"/>
                <a:ea typeface="Arial"/>
                <a:cs typeface="Arial"/>
                <a:sym typeface="Arial"/>
              </a:rPr>
              <a:t>fetch real startup data first, then generate intelligent blueprints</a:t>
            </a:r>
            <a:r>
              <a:rPr lang="en-US" sz="1800" b="0" i="0" u="none" strike="noStrike" cap="none">
                <a:solidFill>
                  <a:srgbClr val="000000"/>
                </a:solidFill>
                <a:latin typeface="Arial"/>
                <a:ea typeface="Arial"/>
                <a:cs typeface="Arial"/>
                <a:sym typeface="Arial"/>
              </a:rPr>
              <a:t>, making the agent more trustworthy and grounded.</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IBM Watsonx.ai - </a:t>
            </a:r>
            <a:r>
              <a:rPr lang="en-US" sz="1800" b="0" i="0" u="none" strike="noStrike" cap="none">
                <a:solidFill>
                  <a:srgbClr val="000000"/>
                </a:solidFill>
                <a:latin typeface="Arial"/>
                <a:ea typeface="Arial"/>
                <a:cs typeface="Arial"/>
                <a:sym typeface="Arial"/>
              </a:rPr>
              <a:t>For Prompt Lab testing and Granite model configuration</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a:solidFill>
                  <a:srgbClr val="000000"/>
                </a:solidFill>
                <a:latin typeface="Arial"/>
                <a:ea typeface="Arial"/>
                <a:cs typeface="Arial"/>
                <a:sym typeface="Arial"/>
              </a:rPr>
              <a:t>Knowledge Base (Upload Files) </a:t>
            </a:r>
            <a:r>
              <a:rPr lang="en-US" sz="1800" b="0" i="0" u="none" strike="noStrike" cap="none">
                <a:solidFill>
                  <a:srgbClr val="000000"/>
                </a:solidFill>
                <a:latin typeface="Arial"/>
                <a:ea typeface="Arial"/>
                <a:cs typeface="Arial"/>
                <a:sym typeface="Arial"/>
              </a:rPr>
              <a:t>– For RAG-based retrieval of schemes, funding, legal, and business framework documents</a:t>
            </a: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watsonx Orchestrate</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537590" y="957943"/>
            <a:ext cx="9207506" cy="50474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1) Profile </a:t>
            </a:r>
            <a:r>
              <a:rPr lang="en-US" sz="1400" b="0" i="0" u="none" strike="noStrike" cap="none" dirty="0">
                <a:solidFill>
                  <a:srgbClr val="000000"/>
                </a:solidFill>
                <a:latin typeface="Arial"/>
                <a:ea typeface="Arial"/>
                <a:cs typeface="Arial"/>
                <a:sym typeface="Arial"/>
              </a:rPr>
              <a:t>– Defines the agent’s name, description, and purpose so it’s discoverable and usable.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2) Knowledge (RAG) </a:t>
            </a:r>
            <a:r>
              <a:rPr lang="en-US" sz="1400" b="0" i="0" u="none" strike="noStrike" cap="none" dirty="0">
                <a:solidFill>
                  <a:srgbClr val="000000"/>
                </a:solidFill>
                <a:latin typeface="Arial"/>
                <a:ea typeface="Arial"/>
                <a:cs typeface="Arial"/>
                <a:sym typeface="Arial"/>
              </a:rPr>
              <a:t>- Uploaded reference documents (government schemes, funding directory, legal checklist, BMC &amp; revenue templates) that ground the agent’s responses.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3) Name of IBM Granite model - </a:t>
            </a:r>
            <a:r>
              <a:rPr lang="en-US" sz="1400" b="0" i="0" u="none" strike="noStrike" cap="none" dirty="0">
                <a:solidFill>
                  <a:srgbClr val="000000"/>
                </a:solidFill>
                <a:latin typeface="Arial"/>
                <a:ea typeface="Arial"/>
                <a:cs typeface="Arial"/>
                <a:sym typeface="Arial"/>
              </a:rPr>
              <a:t>granite-3-8b-instruct → Used for reasoning, retrieval-grounded generation, and structured output</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4) Behavior </a:t>
            </a:r>
            <a:r>
              <a:rPr lang="en-US" sz="1400" b="0" i="0" u="none" strike="noStrike" cap="none" dirty="0">
                <a:solidFill>
                  <a:srgbClr val="000000"/>
                </a:solidFill>
                <a:latin typeface="Arial"/>
                <a:ea typeface="Arial"/>
                <a:cs typeface="Arial"/>
                <a:sym typeface="Arial"/>
              </a:rPr>
              <a:t>-Defines the system instructions enforcing the 9-section blueprint structure and response tone</a:t>
            </a:r>
            <a:endParaRPr dirty="0"/>
          </a:p>
          <a:p>
            <a:pPr marL="0" marR="0" lvl="0" indent="0"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r>
              <a:rPr lang="en-US" b="1" dirty="0"/>
              <a:t>5) Guidelines - </a:t>
            </a:r>
            <a:r>
              <a:rPr lang="en-US" dirty="0"/>
              <a:t>Guardrail rules preventing fabricated scheme/investor details, keeping responses structured, and redirecting off-topic queries</a:t>
            </a: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6) Toolset (Exa web search/fetch</a:t>
            </a:r>
            <a:r>
              <a:rPr lang="en-US" sz="1400" b="0" i="0" u="none" strike="noStrike" cap="none" dirty="0">
                <a:solidFill>
                  <a:srgbClr val="000000"/>
                </a:solidFill>
                <a:latin typeface="Arial"/>
                <a:ea typeface="Arial"/>
                <a:cs typeface="Arial"/>
                <a:sym typeface="Arial"/>
              </a:rPr>
              <a:t>) – for live market and competitor research when needed</a:t>
            </a:r>
            <a:endParaRPr dirty="0"/>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1792" y="1167493"/>
            <a:ext cx="7406640" cy="31085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Role of Agentic AI in Startup Blueprint Generator</a:t>
            </a:r>
            <a:endParaRPr/>
          </a:p>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Agentic AI</a:t>
            </a:r>
            <a:r>
              <a:rPr lang="en-US" sz="1400" b="0" i="0" u="none" strike="noStrike" cap="none">
                <a:solidFill>
                  <a:srgbClr val="000000"/>
                </a:solidFill>
                <a:latin typeface="Arial"/>
                <a:ea typeface="Arial"/>
                <a:cs typeface="Arial"/>
                <a:sym typeface="Arial"/>
              </a:rPr>
              <a:t> enables the Startup Blueprint Generator to function as an intelligent, autonomous advisor rather than a simple chatbot. Using </a:t>
            </a:r>
            <a:r>
              <a:rPr lang="en-US" sz="1400" b="1" i="0" u="none" strike="noStrike" cap="none">
                <a:solidFill>
                  <a:srgbClr val="000000"/>
                </a:solidFill>
                <a:latin typeface="Arial"/>
                <a:ea typeface="Arial"/>
                <a:cs typeface="Arial"/>
                <a:sym typeface="Arial"/>
              </a:rPr>
              <a:t>IBM watsonx Orchestrate</a:t>
            </a:r>
            <a:r>
              <a:rPr lang="en-US" sz="1400" b="0" i="0" u="none" strike="noStrike" cap="none">
                <a:solidFill>
                  <a:srgbClr val="000000"/>
                </a:solidFill>
                <a:latin typeface="Arial"/>
                <a:ea typeface="Arial"/>
                <a:cs typeface="Arial"/>
                <a:sym typeface="Arial"/>
              </a:rPr>
              <a:t> and </a:t>
            </a:r>
            <a:r>
              <a:rPr lang="en-US" sz="1400" b="1" i="0" u="none" strike="noStrike" cap="none">
                <a:solidFill>
                  <a:srgbClr val="000000"/>
                </a:solidFill>
                <a:latin typeface="Arial"/>
                <a:ea typeface="Arial"/>
                <a:cs typeface="Arial"/>
                <a:sym typeface="Arial"/>
              </a:rPr>
              <a:t>IBM Granite models</a:t>
            </a:r>
            <a:r>
              <a:rPr lang="en-US" sz="1400" b="0" i="0" u="none" strike="noStrike" cap="none">
                <a:solidFill>
                  <a:srgbClr val="000000"/>
                </a:solidFill>
                <a:latin typeface="Arial"/>
                <a:ea typeface="Arial"/>
                <a:cs typeface="Arial"/>
                <a:sym typeface="Arial"/>
              </a:rPr>
              <a:t>, it grounds every response in retrieved knowledge before generating structured business guidance.</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The agent performs multiple roles within a single session—retrieving relevant schemes and funding data, generating a tailored business model canvas, estimating budgets, and producing a go-to-market plan—while working within defined guardrails. This </a:t>
            </a:r>
            <a:r>
              <a:rPr lang="en-US" sz="1400" b="1" i="0" u="none" strike="noStrike" cap="none">
                <a:solidFill>
                  <a:srgbClr val="000000"/>
                </a:solidFill>
                <a:latin typeface="Arial"/>
                <a:ea typeface="Arial"/>
                <a:cs typeface="Arial"/>
                <a:sym typeface="Arial"/>
              </a:rPr>
              <a:t>guideline-governed approach</a:t>
            </a:r>
            <a:r>
              <a:rPr lang="en-US" sz="1400" b="0" i="0" u="none" strike="noStrike" cap="none">
                <a:solidFill>
                  <a:srgbClr val="000000"/>
                </a:solidFill>
                <a:latin typeface="Arial"/>
                <a:ea typeface="Arial"/>
                <a:cs typeface="Arial"/>
                <a:sym typeface="Arial"/>
              </a:rPr>
              <a:t> ensures consistent, non-fabricated, and well-structured results.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Agentic AI also brings </a:t>
            </a:r>
            <a:r>
              <a:rPr lang="en-US" sz="1400" b="1" i="0" u="none" strike="noStrike" cap="none">
                <a:solidFill>
                  <a:srgbClr val="000000"/>
                </a:solidFill>
                <a:latin typeface="Arial"/>
                <a:ea typeface="Arial"/>
                <a:cs typeface="Arial"/>
                <a:sym typeface="Arial"/>
              </a:rPr>
              <a:t>context awareness</a:t>
            </a:r>
            <a:r>
              <a:rPr lang="en-US" sz="1400" b="0" i="0" u="none" strike="noStrike" cap="none">
                <a:solidFill>
                  <a:srgbClr val="000000"/>
                </a:solidFill>
                <a:latin typeface="Arial"/>
                <a:ea typeface="Arial"/>
                <a:cs typeface="Arial"/>
                <a:sym typeface="Arial"/>
              </a:rPr>
              <a:t>, asking clarifying questions when a startup idea is vague before generating the full blueprint. It supports </a:t>
            </a:r>
            <a:r>
              <a:rPr lang="en-US" sz="1400" b="1" i="0" u="none" strike="noStrike" cap="none">
                <a:solidFill>
                  <a:srgbClr val="000000"/>
                </a:solidFill>
                <a:latin typeface="Arial"/>
                <a:ea typeface="Arial"/>
                <a:cs typeface="Arial"/>
                <a:sym typeface="Arial"/>
              </a:rPr>
              <a:t>tool-augmented reasoning</a:t>
            </a:r>
            <a:r>
              <a:rPr lang="en-US" sz="1400" b="0" i="0" u="none" strike="noStrike" cap="none">
                <a:solidFill>
                  <a:srgbClr val="000000"/>
                </a:solidFill>
                <a:latin typeface="Arial"/>
                <a:ea typeface="Arial"/>
                <a:cs typeface="Arial"/>
                <a:sym typeface="Arial"/>
              </a:rPr>
              <a:t>, using web search when current market or competitor information is required.</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Additionally, the agent applies behavior instructions and guidelines consistently across every response, ensuring the same structured format and quality regardless of how the conversation unfolds.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Overall, Agentic AI makes the system proactive, grounded, and goal-driven, acting like a </a:t>
            </a:r>
            <a:r>
              <a:rPr lang="en-US" sz="1400" b="1" i="0" u="none" strike="noStrike" cap="none">
                <a:solidFill>
                  <a:srgbClr val="000000"/>
                </a:solidFill>
                <a:latin typeface="Arial"/>
                <a:ea typeface="Arial"/>
                <a:cs typeface="Arial"/>
                <a:sym typeface="Arial"/>
              </a:rPr>
              <a:t>smart digital startup advisor</a:t>
            </a:r>
            <a:r>
              <a:rPr lang="en-US" sz="1400" b="0" i="0" u="none" strike="noStrike" cap="none">
                <a:solidFill>
                  <a:srgbClr val="000000"/>
                </a:solidFill>
                <a:latin typeface="Arial"/>
                <a:ea typeface="Arial"/>
                <a:cs typeface="Arial"/>
                <a:sym typeface="Arial"/>
              </a:rPr>
              <a:t> that helps founders move from idea to implementation with clarity.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079E475D-FA05-8017-D6C4-78D570433135}"/>
              </a:ext>
            </a:extLst>
          </p:cNvPr>
          <p:cNvPicPr>
            <a:picLocks noChangeAspect="1"/>
          </p:cNvPicPr>
          <p:nvPr/>
        </p:nvPicPr>
        <p:blipFill>
          <a:blip r:embed="rId3"/>
          <a:stretch>
            <a:fillRect/>
          </a:stretch>
        </p:blipFill>
        <p:spPr>
          <a:xfrm>
            <a:off x="0" y="585894"/>
            <a:ext cx="12192000" cy="56862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DD9CFF13-4CFD-BC81-2B07-26BA7D562A60}"/>
              </a:ext>
            </a:extLst>
          </p:cNvPr>
          <p:cNvPicPr>
            <a:picLocks noChangeAspect="1"/>
          </p:cNvPicPr>
          <p:nvPr/>
        </p:nvPicPr>
        <p:blipFill>
          <a:blip r:embed="rId3"/>
          <a:stretch>
            <a:fillRect/>
          </a:stretch>
        </p:blipFill>
        <p:spPr>
          <a:xfrm>
            <a:off x="0" y="1060798"/>
            <a:ext cx="12192000" cy="5629032"/>
          </a:xfrm>
          <a:prstGeom prst="rect">
            <a:avLst/>
          </a:prstGeom>
        </p:spPr>
      </p:pic>
      <p:sp>
        <p:nvSpPr>
          <p:cNvPr id="11" name="TextBox 10">
            <a:extLst>
              <a:ext uri="{FF2B5EF4-FFF2-40B4-BE49-F238E27FC236}">
                <a16:creationId xmlns:a16="http://schemas.microsoft.com/office/drawing/2014/main" id="{D784BF5F-182E-AE92-9805-00BA1A3F2A5F}"/>
              </a:ext>
            </a:extLst>
          </p:cNvPr>
          <p:cNvSpPr txBox="1"/>
          <p:nvPr/>
        </p:nvSpPr>
        <p:spPr>
          <a:xfrm>
            <a:off x="0" y="466597"/>
            <a:ext cx="6096000" cy="307777"/>
          </a:xfrm>
          <a:prstGeom prst="rect">
            <a:avLst/>
          </a:prstGeom>
          <a:noFill/>
        </p:spPr>
        <p:txBody>
          <a:bodyPr wrap="square">
            <a:spAutoFit/>
          </a:bodyPr>
          <a:lstStyle/>
          <a:p>
            <a:r>
              <a:rPr lang="en-US" b="1" dirty="0"/>
              <a:t>W</a:t>
            </a:r>
            <a:r>
              <a:rPr lang="en-IN" b="1" dirty="0" err="1"/>
              <a:t>elcome</a:t>
            </a:r>
            <a:r>
              <a:rPr lang="en-IN" b="1" dirty="0"/>
              <a:t> Message &amp; Quick Start Prompt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5C59CCA5-C5BA-A4D3-A0E7-CEC056F6E68A}"/>
              </a:ext>
            </a:extLst>
          </p:cNvPr>
          <p:cNvPicPr>
            <a:picLocks noChangeAspect="1"/>
          </p:cNvPicPr>
          <p:nvPr/>
        </p:nvPicPr>
        <p:blipFill>
          <a:blip r:embed="rId3"/>
          <a:stretch>
            <a:fillRect/>
          </a:stretch>
        </p:blipFill>
        <p:spPr>
          <a:xfrm>
            <a:off x="0" y="617908"/>
            <a:ext cx="12192000" cy="5622184"/>
          </a:xfrm>
          <a:prstGeom prst="rect">
            <a:avLst/>
          </a:prstGeom>
        </p:spPr>
      </p:pic>
    </p:spTree>
    <p:extLst>
      <p:ext uri="{BB962C8B-B14F-4D97-AF65-F5344CB8AC3E}">
        <p14:creationId xmlns:p14="http://schemas.microsoft.com/office/powerpoint/2010/main" val="2823074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708471F6-0A1B-DE3C-6EA0-948594021ACF}"/>
              </a:ext>
            </a:extLst>
          </p:cNvPr>
          <p:cNvPicPr>
            <a:picLocks noChangeAspect="1"/>
          </p:cNvPicPr>
          <p:nvPr/>
        </p:nvPicPr>
        <p:blipFill>
          <a:blip r:embed="rId2"/>
          <a:stretch>
            <a:fillRect/>
          </a:stretch>
        </p:blipFill>
        <p:spPr>
          <a:xfrm>
            <a:off x="0" y="630367"/>
            <a:ext cx="12192000" cy="5597265"/>
          </a:xfrm>
          <a:prstGeom prst="rect">
            <a:avLst/>
          </a:prstGeom>
        </p:spPr>
      </p:pic>
    </p:spTree>
    <p:extLst>
      <p:ext uri="{BB962C8B-B14F-4D97-AF65-F5344CB8AC3E}">
        <p14:creationId xmlns:p14="http://schemas.microsoft.com/office/powerpoint/2010/main" val="1074888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136EBDFC-59DE-AE5D-46CF-3E660CBF7EEC}"/>
              </a:ext>
            </a:extLst>
          </p:cNvPr>
          <p:cNvPicPr>
            <a:picLocks noChangeAspect="1"/>
          </p:cNvPicPr>
          <p:nvPr/>
        </p:nvPicPr>
        <p:blipFill>
          <a:blip r:embed="rId2"/>
          <a:stretch>
            <a:fillRect/>
          </a:stretch>
        </p:blipFill>
        <p:spPr>
          <a:xfrm>
            <a:off x="0" y="665310"/>
            <a:ext cx="12192000" cy="5527379"/>
          </a:xfrm>
          <a:prstGeom prst="rect">
            <a:avLst/>
          </a:prstGeom>
        </p:spPr>
      </p:pic>
    </p:spTree>
    <p:extLst>
      <p:ext uri="{BB962C8B-B14F-4D97-AF65-F5344CB8AC3E}">
        <p14:creationId xmlns:p14="http://schemas.microsoft.com/office/powerpoint/2010/main" val="3579584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E432D22D-F996-7A4E-04D5-16CA7D037841}"/>
              </a:ext>
            </a:extLst>
          </p:cNvPr>
          <p:cNvPicPr>
            <a:picLocks noChangeAspect="1"/>
          </p:cNvPicPr>
          <p:nvPr/>
        </p:nvPicPr>
        <p:blipFill>
          <a:blip r:embed="rId2"/>
          <a:stretch>
            <a:fillRect/>
          </a:stretch>
        </p:blipFill>
        <p:spPr>
          <a:xfrm>
            <a:off x="0" y="617660"/>
            <a:ext cx="12192000" cy="5622679"/>
          </a:xfrm>
          <a:prstGeom prst="rect">
            <a:avLst/>
          </a:prstGeom>
        </p:spPr>
      </p:pic>
    </p:spTree>
    <p:extLst>
      <p:ext uri="{BB962C8B-B14F-4D97-AF65-F5344CB8AC3E}">
        <p14:creationId xmlns:p14="http://schemas.microsoft.com/office/powerpoint/2010/main" val="1216116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0" y="341560"/>
            <a:ext cx="7237688" cy="704017"/>
          </a:xfrm>
          <a:prstGeom prst="rect">
            <a:avLst/>
          </a:prstGeom>
          <a:noFill/>
          <a:ln>
            <a:noFill/>
          </a:ln>
        </p:spPr>
        <p:txBody>
          <a:bodyPr spcFirstLastPara="1" wrap="square" lIns="0" tIns="0" rIns="0" bIns="0" anchor="t" anchorCtr="0">
            <a:noAutofit/>
          </a:bodyPr>
          <a:lstStyle/>
          <a:p>
            <a:pPr marL="0" marR="0" lvl="0" indent="0" rtl="0">
              <a:lnSpc>
                <a:spcPct val="157142"/>
              </a:lnSpc>
              <a:spcBef>
                <a:spcPts val="0"/>
              </a:spcBef>
              <a:spcAft>
                <a:spcPts val="0"/>
              </a:spcAft>
              <a:buNone/>
            </a:pPr>
            <a:r>
              <a:rPr lang="en-US" sz="2400" b="1" i="0" u="none" strike="noStrike" cap="none" dirty="0">
                <a:solidFill>
                  <a:srgbClr val="000000"/>
                </a:solidFill>
                <a:latin typeface="Arial"/>
                <a:ea typeface="Arial"/>
                <a:cs typeface="Arial"/>
                <a:sym typeface="Arial"/>
              </a:rPr>
              <a:t> </a:t>
            </a:r>
            <a:r>
              <a:rPr lang="en-US" sz="2400" b="1" dirty="0"/>
              <a:t>Test Agent:</a:t>
            </a:r>
            <a:endParaRPr sz="24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descr="A screenshot of a computer">
            <a:extLst>
              <a:ext uri="{FF2B5EF4-FFF2-40B4-BE49-F238E27FC236}">
                <a16:creationId xmlns:a16="http://schemas.microsoft.com/office/drawing/2014/main" id="{D4E1B9FF-C014-0EC7-9C1B-DA08A61A3719}"/>
              </a:ext>
            </a:extLst>
          </p:cNvPr>
          <p:cNvPicPr>
            <a:picLocks noChangeAspect="1"/>
          </p:cNvPicPr>
          <p:nvPr/>
        </p:nvPicPr>
        <p:blipFill>
          <a:blip r:embed="rId3"/>
          <a:stretch>
            <a:fillRect/>
          </a:stretch>
        </p:blipFill>
        <p:spPr>
          <a:xfrm>
            <a:off x="0" y="1281314"/>
            <a:ext cx="12192000" cy="523512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52937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The proposed Startup Blueprint Generator stands out by combining </a:t>
            </a:r>
            <a:r>
              <a:rPr lang="en-US" sz="1800" b="1" i="0" u="none" strike="noStrike" cap="none">
                <a:solidFill>
                  <a:srgbClr val="000000"/>
                </a:solidFill>
                <a:latin typeface="Arial"/>
                <a:ea typeface="Arial"/>
                <a:cs typeface="Arial"/>
                <a:sym typeface="Arial"/>
              </a:rPr>
              <a:t>Agentic AI, RAG, and structured business planning</a:t>
            </a:r>
            <a:r>
              <a:rPr lang="en-US" sz="1800" b="0" i="0" u="none" strike="noStrike" cap="none">
                <a:solidFill>
                  <a:srgbClr val="000000"/>
                </a:solidFill>
                <a:latin typeface="Arial"/>
                <a:ea typeface="Arial"/>
                <a:cs typeface="Arial"/>
                <a:sym typeface="Arial"/>
              </a:rPr>
              <a:t> into a single intelligent system.</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Grounded RAG Accuracy</a:t>
            </a:r>
            <a:r>
              <a:rPr lang="en-US" sz="1800" b="0" i="0" u="none" strike="noStrike" cap="none">
                <a:solidFill>
                  <a:srgbClr val="000000"/>
                </a:solidFill>
                <a:latin typeface="Arial"/>
                <a:ea typeface="Arial"/>
                <a:cs typeface="Arial"/>
                <a:sym typeface="Arial"/>
              </a:rPr>
              <a:t> – Retrieves real startup information from a curated knowledge base instead of relying purely on model memory, reducing fabricated schemes or investor names.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Structured Blueprint Output</a:t>
            </a:r>
            <a:r>
              <a:rPr lang="en-US" sz="1800" b="0" i="0" u="none" strike="noStrike" cap="none">
                <a:solidFill>
                  <a:srgbClr val="000000"/>
                </a:solidFill>
                <a:latin typeface="Arial"/>
                <a:ea typeface="Arial"/>
                <a:cs typeface="Arial"/>
                <a:sym typeface="Arial"/>
              </a:rPr>
              <a:t> – Always generates a consistent 9-section business blueprint, not a loosely structured chat response.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Guideline-Governed Guardrails</a:t>
            </a:r>
            <a:r>
              <a:rPr lang="en-US" sz="1800" b="0" i="0" u="none" strike="noStrike" cap="none">
                <a:solidFill>
                  <a:srgbClr val="000000"/>
                </a:solidFill>
                <a:latin typeface="Arial"/>
                <a:ea typeface="Arial"/>
                <a:cs typeface="Arial"/>
                <a:sym typeface="Arial"/>
              </a:rPr>
              <a:t> – Explicit rules prevent fabrication, enforce structure, and redirect off-topic queries.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Tool-Augmented Research</a:t>
            </a:r>
            <a:r>
              <a:rPr lang="en-US" sz="1800" b="0" i="0" u="none" strike="noStrike" cap="none">
                <a:solidFill>
                  <a:srgbClr val="000000"/>
                </a:solidFill>
                <a:latin typeface="Arial"/>
                <a:ea typeface="Arial"/>
                <a:cs typeface="Arial"/>
                <a:sym typeface="Arial"/>
              </a:rPr>
              <a:t> – Integrates live web search for current market and competitor data alongside static knowledge.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India-Specific Context</a:t>
            </a:r>
            <a:r>
              <a:rPr lang="en-US" sz="1800" b="0" i="0" u="none" strike="noStrike" cap="none">
                <a:solidFill>
                  <a:srgbClr val="000000"/>
                </a:solidFill>
                <a:latin typeface="Arial"/>
                <a:ea typeface="Arial"/>
                <a:cs typeface="Arial"/>
                <a:sym typeface="Arial"/>
              </a:rPr>
              <a:t> – Knowledge base is tailored to Indian startup schemes, MSME programs, and the DPIIT recognition process.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End-to-End Coverage</a:t>
            </a:r>
            <a:r>
              <a:rPr lang="en-US" sz="1800" b="0" i="0" u="none" strike="noStrike" cap="none">
                <a:solidFill>
                  <a:srgbClr val="000000"/>
                </a:solidFill>
                <a:latin typeface="Arial"/>
                <a:ea typeface="Arial"/>
                <a:cs typeface="Arial"/>
                <a:sym typeface="Arial"/>
              </a:rPr>
              <a:t> – Goes beyond ideation to cover funding, legal compliance, and go-to-market planning in one flow. </a:t>
            </a:r>
            <a:endParaRPr/>
          </a:p>
          <a:p>
            <a:pPr marL="0" marR="0" lvl="0" indent="0" algn="l"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Scalable &amp; Enterprise-Ready</a:t>
            </a:r>
            <a:r>
              <a:rPr lang="en-US" sz="1800" b="0" i="0" u="none" strike="noStrike" cap="none">
                <a:solidFill>
                  <a:srgbClr val="000000"/>
                </a:solidFill>
                <a:latin typeface="Arial"/>
                <a:ea typeface="Arial"/>
                <a:cs typeface="Arial"/>
                <a:sym typeface="Arial"/>
              </a:rPr>
              <a:t> – Built on </a:t>
            </a:r>
            <a:r>
              <a:rPr lang="en-US" sz="1800" b="1" i="0" u="none" strike="noStrike" cap="none">
                <a:solidFill>
                  <a:srgbClr val="000000"/>
                </a:solidFill>
                <a:latin typeface="Arial"/>
                <a:ea typeface="Arial"/>
                <a:cs typeface="Arial"/>
                <a:sym typeface="Arial"/>
              </a:rPr>
              <a:t>IBM watsonx Orchestrate</a:t>
            </a:r>
            <a:r>
              <a:rPr lang="en-US" sz="1800" b="0" i="0" u="none" strike="noStrike" cap="none">
                <a:solidFill>
                  <a:srgbClr val="000000"/>
                </a:solidFill>
                <a:latin typeface="Arial"/>
                <a:ea typeface="Arial"/>
                <a:cs typeface="Arial"/>
                <a:sym typeface="Arial"/>
              </a:rPr>
              <a:t> with </a:t>
            </a:r>
            <a:r>
              <a:rPr lang="en-US" sz="1800" b="1" i="0" u="none" strike="noStrike" cap="none">
                <a:solidFill>
                  <a:srgbClr val="000000"/>
                </a:solidFill>
                <a:latin typeface="Arial"/>
                <a:ea typeface="Arial"/>
                <a:cs typeface="Arial"/>
                <a:sym typeface="Arial"/>
              </a:rPr>
              <a:t>IBM Granite models</a:t>
            </a:r>
            <a:r>
              <a:rPr lang="en-US" sz="1800" b="0" i="0" u="none" strike="noStrike" cap="none">
                <a:solidFill>
                  <a:srgbClr val="000000"/>
                </a:solidFill>
                <a:latin typeface="Arial"/>
                <a:ea typeface="Arial"/>
                <a:cs typeface="Arial"/>
                <a:sym typeface="Arial"/>
              </a:rPr>
              <a:t>, ensuring reliability and governance. </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a:solidFill>
                  <a:srgbClr val="000000"/>
                </a:solidFill>
                <a:latin typeface="Arial"/>
                <a:ea typeface="Arial"/>
                <a:cs typeface="Arial"/>
                <a:sym typeface="Arial"/>
              </a:rPr>
              <a:t>This makes the solution a </a:t>
            </a:r>
            <a:r>
              <a:rPr lang="en-US" sz="1800" b="1" i="0" u="none" strike="noStrike" cap="none">
                <a:solidFill>
                  <a:srgbClr val="000000"/>
                </a:solidFill>
                <a:latin typeface="Arial"/>
                <a:ea typeface="Arial"/>
                <a:cs typeface="Arial"/>
                <a:sym typeface="Arial"/>
              </a:rPr>
              <a:t>smart, adaptive, and proactive startup advisor</a:t>
            </a:r>
            <a:r>
              <a:rPr lang="en-US" sz="1800" b="0" i="0" u="none" strike="noStrike" cap="none">
                <a:solidFill>
                  <a:srgbClr val="000000"/>
                </a:solidFill>
                <a:latin typeface="Arial"/>
                <a:ea typeface="Arial"/>
                <a:cs typeface="Arial"/>
                <a:sym typeface="Arial"/>
              </a:rPr>
              <a:t>, not just a static idea-to-text generator.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Create a public GitHub repository (enable Add README while creating) with format: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Paste your working GitHub URL here: </a:t>
            </a:r>
          </a:p>
          <a:p>
            <a:pPr>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Link - </a:t>
            </a:r>
            <a:r>
              <a:rPr lang="en-US" sz="1850" b="1" dirty="0">
                <a:solidFill>
                  <a:srgbClr val="2B3541"/>
                </a:solidFill>
                <a:latin typeface="Times New Roman"/>
                <a:ea typeface="Times New Roman"/>
                <a:cs typeface="Times New Roman"/>
                <a:sym typeface="Times New Roman"/>
                <a:hlinkClick r:id="rId3"/>
              </a:rPr>
              <a:t>https://github.com/anshulbhusal-gif/IBMEdunet</a:t>
            </a:r>
            <a:endParaRPr lang="en-US" sz="1850" b="1" dirty="0">
              <a:solidFill>
                <a:srgbClr val="2B3541"/>
              </a:solidFill>
              <a:latin typeface="Times New Roman"/>
              <a:ea typeface="Times New Roman"/>
              <a:cs typeface="Times New Roman"/>
              <a:sym typeface="Times New Roman"/>
            </a:endParaRPr>
          </a:p>
          <a:p>
            <a:pPr>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Upload these 4 files: 1) </a:t>
            </a:r>
            <a:r>
              <a:rPr lang="en-IN" sz="1850" b="1" dirty="0" err="1">
                <a:solidFill>
                  <a:srgbClr val="2B3541"/>
                </a:solidFill>
                <a:latin typeface="Times New Roman"/>
                <a:ea typeface="Times New Roman"/>
                <a:cs typeface="Times New Roman"/>
                <a:sym typeface="Times New Roman"/>
              </a:rPr>
              <a:t>app.json</a:t>
            </a:r>
            <a:r>
              <a:rPr lang="en-IN" sz="1850" b="1" dirty="0">
                <a:solidFill>
                  <a:srgbClr val="2B3541"/>
                </a:solidFill>
                <a:latin typeface="Times New Roman"/>
                <a:ea typeface="Times New Roman"/>
                <a:cs typeface="Times New Roman"/>
                <a:sym typeface="Times New Roman"/>
              </a:rPr>
              <a:t> 2) README 3) Problem Statement 4) Presentation ppt</a:t>
            </a:r>
            <a:endParaRPr lang="en-US" sz="1850" b="1" dirty="0">
              <a:solidFill>
                <a:srgbClr val="2B3541"/>
              </a:solidFill>
              <a:latin typeface="Times New Roman"/>
              <a:ea typeface="Times New Roman"/>
              <a:cs typeface="Times New Roman"/>
              <a:sym typeface="Times New Roman"/>
            </a:endParaRPr>
          </a:p>
          <a:p>
            <a:pPr>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044263"/>
            <a:ext cx="9214580" cy="5731110"/>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1.Multi-Agent Collaboration for Deeper Analysis – </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expanded into specialized collaborator agents—for market research, legal compliance, and investor matching—that work together under the main orchestrator, enabling deeper, more detailed analysis for each blueprint section.</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2.Direct Investor &amp; Incubator Matchmaking </a:t>
            </a:r>
            <a:r>
              <a:rPr lang="en-US" sz="1850" b="0" i="0" u="none" strike="noStrike" cap="none" dirty="0">
                <a:solidFill>
                  <a:srgbClr val="2B3541"/>
                </a:solidFill>
                <a:latin typeface="Times New Roman"/>
                <a:ea typeface="Times New Roman"/>
                <a:cs typeface="Times New Roman"/>
                <a:sym typeface="Times New Roman"/>
              </a:rPr>
              <a:t>– </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live integrations to incubator and investor databases would allow the agent to suggest, and eventually facilitate, warm introductions based on the startup’s sector, stage, and location, moving beyond static directory information.</a:t>
            </a:r>
          </a:p>
          <a:p>
            <a:pPr lvl="0">
              <a:lnSpc>
                <a:spcPct val="162162"/>
              </a:lnSpc>
              <a:buClr>
                <a:srgbClr val="2B3541"/>
              </a:buClr>
              <a:buSzPts val="1850"/>
            </a:pPr>
            <a:r>
              <a:rPr lang="en-US" sz="1850" b="1" dirty="0"/>
              <a:t>3. Multi-Lingual Support</a:t>
            </a:r>
            <a:br>
              <a:rPr lang="en-US" sz="2000" dirty="0"/>
            </a:br>
            <a:r>
              <a:rPr lang="en-US" sz="1850" dirty="0"/>
              <a:t>Expanding the agent to understand and respond in regional Indian languages (Hindi, Marathi, etc.) would make it accessible to a much wider base of first-time entrepreneurs from non-English-speaking backgrounds, especially in Tier 2/3 </a:t>
            </a:r>
            <a:r>
              <a:rPr lang="en-US" sz="2000" dirty="0"/>
              <a:t>cities.</a:t>
            </a:r>
            <a:endParaRPr lang="en-US" sz="1850" b="0"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347A6A-B1C0-4B67-3D25-EB556C932252}"/>
              </a:ext>
            </a:extLst>
          </p:cNvPr>
          <p:cNvSpPr txBox="1"/>
          <p:nvPr/>
        </p:nvSpPr>
        <p:spPr>
          <a:xfrm>
            <a:off x="308471" y="319490"/>
            <a:ext cx="11567711" cy="4932119"/>
          </a:xfrm>
          <a:prstGeom prst="rect">
            <a:avLst/>
          </a:prstGeom>
          <a:noFill/>
        </p:spPr>
        <p:txBody>
          <a:bodyPr wrap="square">
            <a:spAutoFit/>
          </a:bodyPr>
          <a:lstStyle/>
          <a:p>
            <a:r>
              <a:rPr lang="en-US" sz="1850" b="1" dirty="0"/>
              <a:t>4. Pitch Deck Auto-Generation</a:t>
            </a:r>
          </a:p>
          <a:p>
            <a:r>
              <a:rPr lang="en-US" sz="1850" dirty="0"/>
              <a:t>Beyond the text-based blueprint, the agent could generate a ready-to-present pitch deck (slides) summarizing the business model, market opportunity, and funding ask — saving founders additional manual work before investor meetings. </a:t>
            </a:r>
          </a:p>
          <a:p>
            <a:endParaRPr lang="en-US" sz="1850" dirty="0"/>
          </a:p>
          <a:p>
            <a:r>
              <a:rPr lang="en-US" sz="1850" b="1" dirty="0"/>
              <a:t>5. Real-Time Compliance Tracking</a:t>
            </a:r>
          </a:p>
          <a:p>
            <a:r>
              <a:rPr lang="en-US" sz="1850" dirty="0"/>
              <a:t>Integrating with government portals (like the Startup India DPIIT dashboard) could let the agent track a founder's actual registration/compliance status and proactively remind them of pending steps or deadlines,</a:t>
            </a:r>
          </a:p>
          <a:p>
            <a:endParaRPr lang="en-US" sz="1850" dirty="0"/>
          </a:p>
          <a:p>
            <a:r>
              <a:rPr lang="en-US" sz="1850" b="1" dirty="0"/>
              <a:t>6. Financial Projection Modeling</a:t>
            </a:r>
          </a:p>
          <a:p>
            <a:r>
              <a:rPr lang="en-US" sz="1850" dirty="0"/>
              <a:t>Adding a dedicated module for multi-year financial projections (revenue forecasts, break-even analysis, unit economics) would give founders a more investor-ready financial model beyond the initial 6-month budget estimate.</a:t>
            </a:r>
          </a:p>
          <a:p>
            <a:endParaRPr lang="en-US" sz="1850" dirty="0"/>
          </a:p>
          <a:p>
            <a:r>
              <a:rPr lang="en-US" sz="1850" b="1" dirty="0"/>
              <a:t>7. Community &amp; Mentor Matching</a:t>
            </a:r>
            <a:br>
              <a:rPr lang="en-US" sz="1850" dirty="0"/>
            </a:br>
            <a:r>
              <a:rPr lang="en-US" sz="1850" dirty="0"/>
              <a:t>Connecting founders with a peer community or relevant mentors/advisors based on their sector and stage, using the existing incubator/investor knowledge base as a foundation for matchmaking.</a:t>
            </a:r>
            <a:endParaRPr lang="en-IN" sz="1850" dirty="0"/>
          </a:p>
        </p:txBody>
      </p:sp>
    </p:spTree>
    <p:extLst>
      <p:ext uri="{BB962C8B-B14F-4D97-AF65-F5344CB8AC3E}">
        <p14:creationId xmlns:p14="http://schemas.microsoft.com/office/powerpoint/2010/main" val="2521340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6" name="Picture 5" descr="A blue and white card with a black text&#10;&#10;AI-generated content may be incorrect.">
            <a:extLst>
              <a:ext uri="{FF2B5EF4-FFF2-40B4-BE49-F238E27FC236}">
                <a16:creationId xmlns:a16="http://schemas.microsoft.com/office/drawing/2014/main" id="{FE068FB1-1344-22B6-024D-90BB51467347}"/>
              </a:ext>
            </a:extLst>
          </p:cNvPr>
          <p:cNvPicPr>
            <a:picLocks noChangeAspect="1"/>
          </p:cNvPicPr>
          <p:nvPr/>
        </p:nvPicPr>
        <p:blipFill>
          <a:blip r:embed="rId3"/>
          <a:stretch>
            <a:fillRect/>
          </a:stretch>
        </p:blipFill>
        <p:spPr>
          <a:xfrm>
            <a:off x="327949" y="719259"/>
            <a:ext cx="8353343" cy="60230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card">
            <a:extLst>
              <a:ext uri="{FF2B5EF4-FFF2-40B4-BE49-F238E27FC236}">
                <a16:creationId xmlns:a16="http://schemas.microsoft.com/office/drawing/2014/main" id="{C765DE0E-3B34-FF37-7FFA-2FA6DEEFC54D}"/>
              </a:ext>
            </a:extLst>
          </p:cNvPr>
          <p:cNvPicPr>
            <a:picLocks noChangeAspect="1"/>
          </p:cNvPicPr>
          <p:nvPr/>
        </p:nvPicPr>
        <p:blipFill>
          <a:blip r:embed="rId2"/>
          <a:stretch>
            <a:fillRect/>
          </a:stretch>
        </p:blipFill>
        <p:spPr>
          <a:xfrm>
            <a:off x="156026" y="159744"/>
            <a:ext cx="9235900" cy="6538511"/>
          </a:xfrm>
          <a:prstGeom prst="rect">
            <a:avLst/>
          </a:prstGeom>
        </p:spPr>
      </p:pic>
    </p:spTree>
    <p:extLst>
      <p:ext uri="{BB962C8B-B14F-4D97-AF65-F5344CB8AC3E}">
        <p14:creationId xmlns:p14="http://schemas.microsoft.com/office/powerpoint/2010/main" val="3928165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certificate&#10;&#10;AI-generated content may be incorrect.">
            <a:extLst>
              <a:ext uri="{FF2B5EF4-FFF2-40B4-BE49-F238E27FC236}">
                <a16:creationId xmlns:a16="http://schemas.microsoft.com/office/drawing/2014/main" id="{A0736CBD-9A69-EAFC-1956-9861DE6E643C}"/>
              </a:ext>
            </a:extLst>
          </p:cNvPr>
          <p:cNvPicPr>
            <a:picLocks noChangeAspect="1"/>
          </p:cNvPicPr>
          <p:nvPr/>
        </p:nvPicPr>
        <p:blipFill>
          <a:blip r:embed="rId2"/>
          <a:stretch>
            <a:fillRect/>
          </a:stretch>
        </p:blipFill>
        <p:spPr>
          <a:xfrm>
            <a:off x="264156" y="126694"/>
            <a:ext cx="9122216" cy="6604612"/>
          </a:xfrm>
          <a:prstGeom prst="rect">
            <a:avLst/>
          </a:prstGeom>
        </p:spPr>
      </p:pic>
    </p:spTree>
    <p:extLst>
      <p:ext uri="{BB962C8B-B14F-4D97-AF65-F5344CB8AC3E}">
        <p14:creationId xmlns:p14="http://schemas.microsoft.com/office/powerpoint/2010/main" val="201371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496843" y="80047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3" name="Picture 2" descr="A certificate with a yellow logo&#10;&#10;AI-generated content may be incorrect.">
            <a:extLst>
              <a:ext uri="{FF2B5EF4-FFF2-40B4-BE49-F238E27FC236}">
                <a16:creationId xmlns:a16="http://schemas.microsoft.com/office/drawing/2014/main" id="{5F6C01BA-7F87-0744-2DF2-0F3FD815AECA}"/>
              </a:ext>
            </a:extLst>
          </p:cNvPr>
          <p:cNvPicPr>
            <a:picLocks noChangeAspect="1"/>
          </p:cNvPicPr>
          <p:nvPr/>
        </p:nvPicPr>
        <p:blipFill>
          <a:blip r:embed="rId3"/>
          <a:stretch>
            <a:fillRect/>
          </a:stretch>
        </p:blipFill>
        <p:spPr>
          <a:xfrm>
            <a:off x="-1" y="0"/>
            <a:ext cx="5954377" cy="3237500"/>
          </a:xfrm>
          <a:prstGeom prst="rect">
            <a:avLst/>
          </a:prstGeom>
        </p:spPr>
      </p:pic>
      <p:pic>
        <p:nvPicPr>
          <p:cNvPr id="5" name="Picture 4" descr="A certificate with a yellow logo&#10;&#10;AI-generated content may be incorrect.">
            <a:extLst>
              <a:ext uri="{FF2B5EF4-FFF2-40B4-BE49-F238E27FC236}">
                <a16:creationId xmlns:a16="http://schemas.microsoft.com/office/drawing/2014/main" id="{E3465D64-58A4-7734-55B0-9BFD6DC70D67}"/>
              </a:ext>
            </a:extLst>
          </p:cNvPr>
          <p:cNvPicPr>
            <a:picLocks noChangeAspect="1"/>
          </p:cNvPicPr>
          <p:nvPr/>
        </p:nvPicPr>
        <p:blipFill>
          <a:blip r:embed="rId4"/>
          <a:stretch>
            <a:fillRect/>
          </a:stretch>
        </p:blipFill>
        <p:spPr>
          <a:xfrm>
            <a:off x="5954376" y="0"/>
            <a:ext cx="5954376" cy="3237500"/>
          </a:xfrm>
          <a:prstGeom prst="rect">
            <a:avLst/>
          </a:prstGeom>
        </p:spPr>
      </p:pic>
      <p:pic>
        <p:nvPicPr>
          <p:cNvPr id="7" name="Picture 6" descr="A certificate with a yellow logo&#10;&#10;AI-generated content may be incorrect.">
            <a:extLst>
              <a:ext uri="{FF2B5EF4-FFF2-40B4-BE49-F238E27FC236}">
                <a16:creationId xmlns:a16="http://schemas.microsoft.com/office/drawing/2014/main" id="{A552E97D-50CF-E0B3-3BF0-B45561E8ADC4}"/>
              </a:ext>
            </a:extLst>
          </p:cNvPr>
          <p:cNvPicPr>
            <a:picLocks noChangeAspect="1"/>
          </p:cNvPicPr>
          <p:nvPr/>
        </p:nvPicPr>
        <p:blipFill>
          <a:blip r:embed="rId5"/>
          <a:stretch>
            <a:fillRect/>
          </a:stretch>
        </p:blipFill>
        <p:spPr>
          <a:xfrm>
            <a:off x="2977187" y="3237500"/>
            <a:ext cx="5954376" cy="3237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1029</TotalTime>
  <Words>1643</Words>
  <Application>Microsoft Office PowerPoint</Application>
  <PresentationFormat>Widescreen</PresentationFormat>
  <Paragraphs>135</Paragraphs>
  <Slides>23</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Anshul Bhusal</cp:lastModifiedBy>
  <cp:revision>3</cp:revision>
  <dcterms:created xsi:type="dcterms:W3CDTF">2025-07-08T05:06:56Z</dcterms:created>
  <dcterms:modified xsi:type="dcterms:W3CDTF">2026-07-12T07:53:29Z</dcterms:modified>
</cp:coreProperties>
</file>